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-914400"/>
            <a:ext cx="4114800" cy="4114800"/>
          </a:xfrm>
          <a:prstGeom prst="ellipse">
            <a:avLst/>
          </a:prstGeom>
          <a:solidFill>
            <a:srgbClr val="3B77DF">
              <a:alpha val="15000"/>
            </a:srgbClr>
          </a:solidFill>
          <a:ln w="12700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-182880"/>
            <a:ext cx="2560320" cy="2560320"/>
          </a:xfrm>
          <a:prstGeom prst="ellipse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93C5FD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320040"/>
            <a:ext cx="502920" cy="502920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301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4747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C5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NexaLab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1143000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 w="12700">
            <a:solidFill>
              <a:srgbClr val="3B77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1430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0A5FA"/>
                </a:solidFill>
              </a:rPr>
              <a:t>BLOC 2 · MODULES 3 &amp; 4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20040" y="15544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NexaLab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320040" y="257860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Laboratoire d'Innovation Technologique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entreprises africaines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429000"/>
            <a:ext cx="2560320" cy="27432"/>
          </a:xfrm>
          <a:prstGeom prst="rect">
            <a:avLst/>
          </a:prstGeom>
          <a:solidFill>
            <a:srgbClr val="3B77DF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35661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70B14"/>
          </a:solidFill>
          <a:ln w="12700">
            <a:solidFill>
              <a:srgbClr val="3B77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566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</a:rPr>
              <a:t>Concevoir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28800" y="35661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70B14"/>
          </a:solidFill>
          <a:ln w="12700">
            <a:solidFill>
              <a:srgbClr val="3B77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3566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</a:rPr>
              <a:t>Structurer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337560" y="35661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70B14"/>
          </a:solidFill>
          <a:ln w="12700">
            <a:solidFill>
              <a:srgbClr val="3B77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3566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</a:rPr>
              <a:t>Présenter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0040" y="3977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Groupe 1  ·  Chef de projet : SOZAN Euloge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42519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HTML5 + CSS3  ·  Architecture modulaire  ·  Responsive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" y="47091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77DF"/>
                </a:solidFill>
              </a:rPr>
              <a:t>IFRI · L1 · 2025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669280" y="1463040"/>
            <a:ext cx="1554480" cy="1188720"/>
          </a:xfrm>
          <a:prstGeom prst="rect">
            <a:avLst/>
          </a:prstGeom>
          <a:solidFill>
            <a:srgbClr val="1A2235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69280" y="1463040"/>
            <a:ext cx="1554480" cy="45720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0" y="15544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566928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sections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06640" y="1463040"/>
            <a:ext cx="1554480" cy="1188720"/>
          </a:xfrm>
          <a:prstGeom prst="rect">
            <a:avLst/>
          </a:prstGeom>
          <a:solidFill>
            <a:srgbClr val="1A2235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06640" y="1463040"/>
            <a:ext cx="1554480" cy="45720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29" name="Text 27"/>
          <p:cNvSpPr/>
          <p:nvPr/>
        </p:nvSpPr>
        <p:spPr>
          <a:xfrm>
            <a:off x="7406640" y="15544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4200" dirty="0"/>
          </a:p>
        </p:txBody>
      </p:sp>
      <p:sp>
        <p:nvSpPr>
          <p:cNvPr id="30" name="Text 28"/>
          <p:cNvSpPr/>
          <p:nvPr/>
        </p:nvSpPr>
        <p:spPr>
          <a:xfrm>
            <a:off x="740664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fichiers CSS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2880360"/>
            <a:ext cx="1554480" cy="1188720"/>
          </a:xfrm>
          <a:prstGeom prst="rect">
            <a:avLst/>
          </a:prstGeom>
          <a:solidFill>
            <a:srgbClr val="1A2235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669280" y="2880360"/>
            <a:ext cx="1554480" cy="45720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0" y="29718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4200" dirty="0"/>
          </a:p>
        </p:txBody>
      </p:sp>
      <p:sp>
        <p:nvSpPr>
          <p:cNvPr id="34" name="Text 32"/>
          <p:cNvSpPr/>
          <p:nvPr/>
        </p:nvSpPr>
        <p:spPr>
          <a:xfrm>
            <a:off x="5669280" y="3657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membres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06640" y="2880360"/>
            <a:ext cx="1554480" cy="1188720"/>
          </a:xfrm>
          <a:prstGeom prst="rect">
            <a:avLst/>
          </a:prstGeom>
          <a:solidFill>
            <a:srgbClr val="1A2235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06640" y="2880360"/>
            <a:ext cx="1554480" cy="45720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37" name="Text 35"/>
          <p:cNvSpPr/>
          <p:nvPr/>
        </p:nvSpPr>
        <p:spPr>
          <a:xfrm>
            <a:off x="7406640" y="29718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4200" dirty="0"/>
          </a:p>
        </p:txBody>
      </p:sp>
      <p:sp>
        <p:nvSpPr>
          <p:cNvPr id="38" name="Text 36"/>
          <p:cNvSpPr/>
          <p:nvPr/>
        </p:nvSpPr>
        <p:spPr>
          <a:xfrm>
            <a:off x="7406640" y="3657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jours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L'ÉQUIPE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57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7 développeurs · Académie IFRI L1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1920240" cy="1645920"/>
          </a:xfrm>
          <a:prstGeom prst="rect">
            <a:avLst/>
          </a:prstGeom>
          <a:solidFill>
            <a:srgbClr val="172040"/>
          </a:solidFill>
          <a:ln w="25400">
            <a:solidFill>
              <a:srgbClr val="3B77D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1170432"/>
            <a:ext cx="512064" cy="512064"/>
          </a:xfrm>
          <a:prstGeom prst="ellipse">
            <a:avLst/>
          </a:prstGeom>
          <a:solidFill>
            <a:srgbClr val="3B77DF"/>
          </a:solidFill>
          <a:ln w="254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170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709928"/>
            <a:ext cx="1005840" cy="182880"/>
          </a:xfrm>
          <a:prstGeom prst="roundRect">
            <a:avLst>
              <a:gd name="adj" fmla="val 20000"/>
            </a:avLst>
          </a:prstGeom>
          <a:solidFill>
            <a:srgbClr val="3B77D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099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LEAD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20040" y="19385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SOZAN Euloge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0040" y="22402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A5FA"/>
                </a:solidFill>
              </a:rPr>
              <a:t>Chef de projet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20040" y="24414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Header · Hero · À propos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2423160" y="1051560"/>
            <a:ext cx="192024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27248" y="1170432"/>
            <a:ext cx="512064" cy="512064"/>
          </a:xfrm>
          <a:prstGeom prst="ellipse">
            <a:avLst/>
          </a:prstGeom>
          <a:solidFill>
            <a:srgbClr val="1A2235"/>
          </a:solidFill>
          <a:ln w="25400">
            <a:solidFill>
              <a:srgbClr val="3B77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27248" y="1170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14600" y="17282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HOUENOU Adonis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14600" y="20299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A5FA"/>
                </a:solidFill>
              </a:rPr>
              <a:t>Développeur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4600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Header · Hero · À propos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617720" y="1051560"/>
            <a:ext cx="192024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21808" y="1170432"/>
            <a:ext cx="512064" cy="512064"/>
          </a:xfrm>
          <a:prstGeom prst="ellipse">
            <a:avLst/>
          </a:prstGeom>
          <a:solidFill>
            <a:srgbClr val="1A2235"/>
          </a:solidFill>
          <a:ln w="25400">
            <a:solidFill>
              <a:srgbClr val="3B77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21808" y="1170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17282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Iréti F. T. S. BADOU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09160" y="20299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A5FA"/>
                </a:solidFill>
              </a:rPr>
              <a:t>Développeuse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09160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Services · Chiffres clés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6812280" y="1051560"/>
            <a:ext cx="192024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516368" y="1170432"/>
            <a:ext cx="512064" cy="512064"/>
          </a:xfrm>
          <a:prstGeom prst="ellipse">
            <a:avLst/>
          </a:prstGeom>
          <a:solidFill>
            <a:srgbClr val="1A2235"/>
          </a:solidFill>
          <a:ln w="25400">
            <a:solidFill>
              <a:srgbClr val="3B77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16368" y="1170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03720" y="17282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SOSSOU Merveilles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903720" y="20299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A5FA"/>
                </a:solidFill>
              </a:rPr>
              <a:t>Développeur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903720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Services · Chiffres clés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1325880" y="2788920"/>
            <a:ext cx="192024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029968" y="2907792"/>
            <a:ext cx="512064" cy="512064"/>
          </a:xfrm>
          <a:prstGeom prst="ellipse">
            <a:avLst/>
          </a:prstGeom>
          <a:solidFill>
            <a:srgbClr val="1A2235"/>
          </a:solidFill>
          <a:ln w="25400">
            <a:solidFill>
              <a:srgbClr val="3B77D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29968" y="29077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417320" y="34655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Houéfa I. C. AHOLOU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417320" y="3767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A5FA"/>
                </a:solidFill>
              </a:rPr>
              <a:t>Développeuse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417320" y="3977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Contact · Footer · Témoignages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3520440" y="2788920"/>
            <a:ext cx="192024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224528" y="2907792"/>
            <a:ext cx="512064" cy="512064"/>
          </a:xfrm>
          <a:prstGeom prst="ellipse">
            <a:avLst/>
          </a:prstGeom>
          <a:solidFill>
            <a:srgbClr val="1A2235"/>
          </a:solidFill>
          <a:ln w="25400">
            <a:solidFill>
              <a:srgbClr val="3B77D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24528" y="29077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11880" y="34655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Aristote L. E. HOUNTONDJI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611880" y="3767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A5FA"/>
                </a:solidFill>
              </a:rPr>
              <a:t>Développeur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611880" y="3977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Contact · Footer · Témoignages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5715000" y="2788920"/>
            <a:ext cx="192024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419088" y="2907792"/>
            <a:ext cx="512064" cy="512064"/>
          </a:xfrm>
          <a:prstGeom prst="ellipse">
            <a:avLst/>
          </a:prstGeom>
          <a:solidFill>
            <a:srgbClr val="1A2235"/>
          </a:solidFill>
          <a:ln w="25400">
            <a:solidFill>
              <a:srgbClr val="3B77D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19088" y="29077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LF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806440" y="34655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LEFÈVRE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806440" y="3767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A5FA"/>
                </a:solidFill>
              </a:rPr>
              <a:t>Développeur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806440" y="3977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Contact · Footer · Témoignages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CLIENT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57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NexaLab · Laboratoire fictif d'innovation pour l'Afrique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1371600" cy="1371600"/>
          </a:xfrm>
          <a:prstGeom prst="rect">
            <a:avLst/>
          </a:prstGeom>
          <a:solidFill>
            <a:srgbClr val="3B77DF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97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320040" y="25328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3C5FD"/>
                </a:solidFill>
              </a:rPr>
              <a:t>NexaLab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20240" y="1078992"/>
            <a:ext cx="5029200" cy="420624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0" name="Text 8"/>
          <p:cNvSpPr/>
          <p:nvPr/>
        </p:nvSpPr>
        <p:spPr>
          <a:xfrm>
            <a:off x="1965960" y="1078992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0A5FA"/>
                </a:solidFill>
              </a:rPr>
              <a:t>SECTEUR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108960" y="107899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Innovation · IA · IoT · Data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20240" y="1554480"/>
            <a:ext cx="5029200" cy="420624"/>
          </a:xfrm>
          <a:prstGeom prst="rect">
            <a:avLst/>
          </a:prstGeom>
          <a:solidFill>
            <a:srgbClr val="1A2235"/>
          </a:solidFill>
          <a:ln/>
        </p:spPr>
      </p:sp>
      <p:sp>
        <p:nvSpPr>
          <p:cNvPr id="13" name="Text 11"/>
          <p:cNvSpPr/>
          <p:nvPr/>
        </p:nvSpPr>
        <p:spPr>
          <a:xfrm>
            <a:off x="1965960" y="155448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0A5FA"/>
                </a:solidFill>
              </a:rPr>
              <a:t>CIBLE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108960" y="155448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Décideurs · Investisseurs · Talents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20240" y="2029968"/>
            <a:ext cx="5029200" cy="420624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6" name="Text 14"/>
          <p:cNvSpPr/>
          <p:nvPr/>
        </p:nvSpPr>
        <p:spPr>
          <a:xfrm>
            <a:off x="1965960" y="202996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0A5FA"/>
                </a:solidFill>
              </a:rPr>
              <a:t>TON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108960" y="202996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Confiant, innovant, accessible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20240" y="2505456"/>
            <a:ext cx="5029200" cy="420624"/>
          </a:xfrm>
          <a:prstGeom prst="rect">
            <a:avLst/>
          </a:prstGeom>
          <a:solidFill>
            <a:srgbClr val="1A2235"/>
          </a:solidFill>
          <a:ln/>
        </p:spPr>
      </p:sp>
      <p:sp>
        <p:nvSpPr>
          <p:cNvPr id="19" name="Text 17"/>
          <p:cNvSpPr/>
          <p:nvPr/>
        </p:nvSpPr>
        <p:spPr>
          <a:xfrm>
            <a:off x="1965960" y="25054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0A5FA"/>
                </a:solidFill>
              </a:rPr>
              <a:t>IDENTITÉ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108960" y="250545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Sombre · Épurée · Technologique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920240" y="2980944"/>
            <a:ext cx="5029200" cy="420624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2" name="Text 20"/>
          <p:cNvSpPr/>
          <p:nvPr/>
        </p:nvSpPr>
        <p:spPr>
          <a:xfrm>
            <a:off x="1965960" y="298094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0A5FA"/>
                </a:solidFill>
              </a:rPr>
              <a:t>OBJECTIF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108960" y="298094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Convaincre en moins de 10 secondes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78040" y="1051560"/>
            <a:ext cx="1691640" cy="1234440"/>
          </a:xfrm>
          <a:prstGeom prst="rect">
            <a:avLst/>
          </a:prstGeom>
          <a:solidFill>
            <a:srgbClr val="1A2235"/>
          </a:solidFill>
          <a:ln w="12700">
            <a:solidFill>
              <a:srgbClr val="3B77D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51192" y="1161288"/>
            <a:ext cx="411480" cy="411480"/>
          </a:xfrm>
          <a:prstGeom prst="ellipse">
            <a:avLst/>
          </a:prstGeom>
          <a:solidFill>
            <a:srgbClr val="3B77DF"/>
          </a:solidFill>
          <a:ln/>
        </p:spPr>
      </p:sp>
      <p:sp>
        <p:nvSpPr>
          <p:cNvPr id="26" name="Text 24"/>
          <p:cNvSpPr/>
          <p:nvPr/>
        </p:nvSpPr>
        <p:spPr>
          <a:xfrm>
            <a:off x="7251192" y="1161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99248" y="11704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Modernité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51192" y="1645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</a:rPr>
              <a:t>Technologie de pointe pour l'Afrique de demain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178040" y="2377440"/>
            <a:ext cx="1691640" cy="1234440"/>
          </a:xfrm>
          <a:prstGeom prst="rect">
            <a:avLst/>
          </a:prstGeom>
          <a:solidFill>
            <a:srgbClr val="1A2235"/>
          </a:solidFill>
          <a:ln w="12700">
            <a:solidFill>
              <a:srgbClr val="3B77D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51192" y="2487168"/>
            <a:ext cx="411480" cy="411480"/>
          </a:xfrm>
          <a:prstGeom prst="ellipse">
            <a:avLst/>
          </a:prstGeom>
          <a:solidFill>
            <a:srgbClr val="3B77DF"/>
          </a:solidFill>
          <a:ln/>
        </p:spPr>
      </p:sp>
      <p:sp>
        <p:nvSpPr>
          <p:cNvPr id="31" name="Text 29"/>
          <p:cNvSpPr/>
          <p:nvPr/>
        </p:nvSpPr>
        <p:spPr>
          <a:xfrm>
            <a:off x="7251192" y="2487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699248" y="24963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Rigueur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51192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</a:rPr>
              <a:t>Architecture propre · Code sémantique · Clean code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178040" y="3703320"/>
            <a:ext cx="1691640" cy="1234440"/>
          </a:xfrm>
          <a:prstGeom prst="rect">
            <a:avLst/>
          </a:prstGeom>
          <a:solidFill>
            <a:srgbClr val="1A2235"/>
          </a:solidFill>
          <a:ln w="12700">
            <a:solidFill>
              <a:srgbClr val="3B77D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51192" y="3813048"/>
            <a:ext cx="411480" cy="411480"/>
          </a:xfrm>
          <a:prstGeom prst="ellipse">
            <a:avLst/>
          </a:prstGeom>
          <a:solidFill>
            <a:srgbClr val="3B77DF"/>
          </a:solidFill>
          <a:ln/>
        </p:spPr>
      </p:sp>
      <p:sp>
        <p:nvSpPr>
          <p:cNvPr id="36" name="Text 34"/>
          <p:cNvSpPr/>
          <p:nvPr/>
        </p:nvSpPr>
        <p:spPr>
          <a:xfrm>
            <a:off x="7251192" y="3813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699248" y="38221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Impact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251192" y="4297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</a:rPr>
              <a:t>Des solutions qui comptent vraiment pour le terrain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CSS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57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11 fichiers · 0 conflit Git · 0 dette technique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377440" cy="3840480"/>
          </a:xfrm>
          <a:prstGeom prst="rect">
            <a:avLst/>
          </a:prstGeom>
          <a:solidFill>
            <a:srgbClr val="070B14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51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📁 nexalab/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" y="1371600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index.html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7472" y="1586484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index-en.html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47472" y="1801368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styles/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47472" y="2016252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base.css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47472" y="2231136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header.css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47472" y="2446020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hero.css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7472" y="2660904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about.css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7472" y="2875788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services.css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3090672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stats.css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7472" y="3305556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team.css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47472" y="3520440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team-membres.css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47472" y="3735324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testimonials.css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47472" y="3950208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contact.css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47472" y="4165092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footer.css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47472" y="4379976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assets/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47472" y="4594860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README.md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834640" y="1005840"/>
            <a:ext cx="6035040" cy="3200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5" name="Text 23"/>
          <p:cNvSpPr/>
          <p:nvPr/>
        </p:nvSpPr>
        <p:spPr>
          <a:xfrm>
            <a:off x="2880360" y="1005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base.css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0" y="1005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Reset · Variables CSS · Animations globales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834640" y="1348740"/>
            <a:ext cx="6035040" cy="320040"/>
          </a:xfrm>
          <a:prstGeom prst="rect">
            <a:avLst/>
          </a:prstGeom>
          <a:solidFill>
            <a:srgbClr val="1A2235"/>
          </a:solidFill>
          <a:ln/>
        </p:spPr>
      </p:sp>
      <p:sp>
        <p:nvSpPr>
          <p:cNvPr id="28" name="Text 26"/>
          <p:cNvSpPr/>
          <p:nvPr/>
        </p:nvSpPr>
        <p:spPr>
          <a:xfrm>
            <a:off x="2880360" y="13487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header.css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0" y="13487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Navigation sticky · Logo · Hamburger mobile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834640" y="1691640"/>
            <a:ext cx="6035040" cy="3200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1" name="Text 29"/>
          <p:cNvSpPr/>
          <p:nvPr/>
        </p:nvSpPr>
        <p:spPr>
          <a:xfrm>
            <a:off x="2880360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hero.css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0" y="1691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Accroche · Particules CSS · Courbes SVG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834640" y="2034540"/>
            <a:ext cx="6035040" cy="320040"/>
          </a:xfrm>
          <a:prstGeom prst="rect">
            <a:avLst/>
          </a:prstGeom>
          <a:solidFill>
            <a:srgbClr val="1A2235"/>
          </a:solidFill>
          <a:ln/>
        </p:spPr>
      </p:sp>
      <p:sp>
        <p:nvSpPr>
          <p:cNvPr id="34" name="Text 32"/>
          <p:cNvSpPr/>
          <p:nvPr/>
        </p:nvSpPr>
        <p:spPr>
          <a:xfrm>
            <a:off x="2880360" y="20345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about.css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0" y="20345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Mission · 3 cartes ADN · Layout 2 colonnes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834640" y="2377440"/>
            <a:ext cx="6035040" cy="3200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7" name="Text 35"/>
          <p:cNvSpPr/>
          <p:nvPr/>
        </p:nvSpPr>
        <p:spPr>
          <a:xfrm>
            <a:off x="2880360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services.css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0" y="2377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6 cards expertises · Glow hover · Icônes SVG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834640" y="2720340"/>
            <a:ext cx="6035040" cy="320040"/>
          </a:xfrm>
          <a:prstGeom prst="rect">
            <a:avLst/>
          </a:prstGeom>
          <a:solidFill>
            <a:srgbClr val="1A2235"/>
          </a:solidFill>
          <a:ln/>
        </p:spPr>
      </p:sp>
      <p:sp>
        <p:nvSpPr>
          <p:cNvPr id="40" name="Text 38"/>
          <p:cNvSpPr/>
          <p:nvPr/>
        </p:nvSpPr>
        <p:spPr>
          <a:xfrm>
            <a:off x="2880360" y="27203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stats.css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72000" y="27203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Compteurs gradient · Chiffres clés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834640" y="3063240"/>
            <a:ext cx="6035040" cy="3200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3" name="Text 41"/>
          <p:cNvSpPr/>
          <p:nvPr/>
        </p:nvSpPr>
        <p:spPr>
          <a:xfrm>
            <a:off x="2880360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team.css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72000" y="3063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Avatars · Hover lift · Logos partenaires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834640" y="3406140"/>
            <a:ext cx="6035040" cy="320040"/>
          </a:xfrm>
          <a:prstGeom prst="rect">
            <a:avLst/>
          </a:prstGeom>
          <a:solidFill>
            <a:srgbClr val="1A2235"/>
          </a:solidFill>
          <a:ln/>
        </p:spPr>
      </p:sp>
      <p:sp>
        <p:nvSpPr>
          <p:cNvPr id="46" name="Text 44"/>
          <p:cNvSpPr/>
          <p:nvPr/>
        </p:nvSpPr>
        <p:spPr>
          <a:xfrm>
            <a:off x="2880360" y="34061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team-membres.css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572000" y="34061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Photos glassmorphisme · Shine effect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834640" y="3749040"/>
            <a:ext cx="6035040" cy="3200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9" name="Text 47"/>
          <p:cNvSpPr/>
          <p:nvPr/>
        </p:nvSpPr>
        <p:spPr>
          <a:xfrm>
            <a:off x="2880360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testimonials.css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572000" y="3749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Citations · Étoiles · Guillemet décoratif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834640" y="4091940"/>
            <a:ext cx="6035040" cy="320040"/>
          </a:xfrm>
          <a:prstGeom prst="rect">
            <a:avLst/>
          </a:prstGeom>
          <a:solidFill>
            <a:srgbClr val="1A2235"/>
          </a:solidFill>
          <a:ln/>
        </p:spPr>
      </p:sp>
      <p:sp>
        <p:nvSpPr>
          <p:cNvPr id="52" name="Text 50"/>
          <p:cNvSpPr/>
          <p:nvPr/>
        </p:nvSpPr>
        <p:spPr>
          <a:xfrm>
            <a:off x="2880360" y="40919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contact.css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572000" y="40919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Inputs premium · Focus glow · Bouton gradient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834640" y="4434840"/>
            <a:ext cx="6035040" cy="3200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55" name="Text 53"/>
          <p:cNvSpPr/>
          <p:nvPr/>
        </p:nvSpPr>
        <p:spPr>
          <a:xfrm>
            <a:off x="2880360" y="4434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footer.css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572000" y="4434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Colonnes liens · Icônes sociales · Copyright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IDENTITÉ VISUELLE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57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Palette · Typographie · CSS pur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</a:rPr>
              <a:t>PALETTE DE COULEURS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1280160" cy="685800"/>
          </a:xfrm>
          <a:prstGeom prst="rect">
            <a:avLst/>
          </a:prstGeom>
          <a:solidFill>
            <a:srgbClr val="0B0F19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20848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#0B0F19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20040" y="23042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Background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2505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Profondeur · Ancrage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1737360" y="1371600"/>
            <a:ext cx="128016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37360" y="20848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#111827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737360" y="23042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Card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737360" y="2505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Surfaces interactives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3154680" y="1371600"/>
            <a:ext cx="1280160" cy="685800"/>
          </a:xfrm>
          <a:prstGeom prst="rect">
            <a:avLst/>
          </a:prstGeom>
          <a:solidFill>
            <a:srgbClr val="3B77DF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54680" y="20848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#3B77DF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154680" y="23042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Primary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154680" y="2505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CTA · Actions principales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4572000" y="1371600"/>
            <a:ext cx="1280160" cy="685800"/>
          </a:xfrm>
          <a:prstGeom prst="rect">
            <a:avLst/>
          </a:prstGeom>
          <a:solidFill>
            <a:srgbClr val="60A5F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0" y="20848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#60A5FA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0" y="23042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Accent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0" y="2505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Innovation · Highlights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5989320" y="1371600"/>
            <a:ext cx="128016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89320" y="20848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#F8FAFC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989320" y="23042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Text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989320" y="2505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Titres · Contenu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7406640" y="1371600"/>
            <a:ext cx="1280160" cy="685800"/>
          </a:xfrm>
          <a:prstGeom prst="rect">
            <a:avLst/>
          </a:prstGeom>
          <a:solidFill>
            <a:srgbClr val="94A3B8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06640" y="20848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#94A3B8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406640" y="23042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Text Muted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406640" y="2505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Corps · Descriptions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32004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</a:rPr>
              <a:t>TYPOGRAPHIE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3154680"/>
            <a:ext cx="41148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200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Trebuchet MS / Syne — --font-display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34930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NEXALAB — INNOVATION AFRICAINE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663440" y="3154680"/>
            <a:ext cx="416052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200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Calibri / Inter — --font-body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00600" y="34930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NexaLab conçoit des solutions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technologiques pour l'Afrique.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0040" y="420624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94A3B8"/>
                </a:solidFill>
              </a:rPr>
              <a:t>INTERACTIONS CSS PURES — ZÉRO JAVASCRIPT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20040" y="44805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</a:rPr>
              <a:t>☑ Checkbox Hack — Menu hamburger + dropdown langue FR/EN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20040" y="4754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☑ @keyframes — Gradient shift · Particules flottantes · Shimmer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09160" y="44805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</a:rPr>
              <a:t>☑ Hover Effects — translateY · box-shadow · border-color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09160" y="4754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☑ SVG inline — Icônes via currentColor · Courbes Bézier hero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 DU SITE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57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Les 9 sections obligatoires du cahier des charges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61488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54864" cy="1234440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155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77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148132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Header &amp; Navigation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78308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Logo · Menu sticky · Sélecteur FR/EN · CTA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18688" y="1005840"/>
            <a:ext cx="2761488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005840"/>
            <a:ext cx="54864" cy="1234440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13" name="Text 11"/>
          <p:cNvSpPr/>
          <p:nvPr/>
        </p:nvSpPr>
        <p:spPr>
          <a:xfrm>
            <a:off x="3355848" y="11155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77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55848" y="148132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Hero Section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55848" y="178308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Titre animé · Particules CSS · Courbes SVG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63056" y="1005840"/>
            <a:ext cx="2761488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3056" y="1005840"/>
            <a:ext cx="54864" cy="1234440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18" name="Text 16"/>
          <p:cNvSpPr/>
          <p:nvPr/>
        </p:nvSpPr>
        <p:spPr>
          <a:xfrm>
            <a:off x="6300216" y="11155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77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00216" y="148132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À propos / Mission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0216" y="178308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Vision NexaLab · Image glow · 3 cartes ADN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2377440"/>
            <a:ext cx="2761488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377440"/>
            <a:ext cx="54864" cy="1234440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24871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77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11480" y="285292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Services / Expertises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315468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6 cards premium · Icônes SVG · Tags pill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18688" y="2377440"/>
            <a:ext cx="2761488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18688" y="2377440"/>
            <a:ext cx="54864" cy="1234440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28" name="Text 26"/>
          <p:cNvSpPr/>
          <p:nvPr/>
        </p:nvSpPr>
        <p:spPr>
          <a:xfrm>
            <a:off x="3355848" y="24871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77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355848" y="285292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Chiffres clés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55848" y="315468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Compteurs gradient · Données · Divider animé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63056" y="2377440"/>
            <a:ext cx="2761488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63056" y="2377440"/>
            <a:ext cx="54864" cy="1234440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33" name="Text 31"/>
          <p:cNvSpPr/>
          <p:nvPr/>
        </p:nvSpPr>
        <p:spPr>
          <a:xfrm>
            <a:off x="6300216" y="24871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77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300216" y="285292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Équipe &amp; Partenaires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0216" y="315468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Avatars hover lift · Glassmorphisme · Logos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74320" y="3749040"/>
            <a:ext cx="2761488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3749040"/>
            <a:ext cx="54864" cy="1234440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38587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77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411480" y="422452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Témoignages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11480" y="452628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3 clients · Guillemet décoratif · Étoiles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18688" y="3749040"/>
            <a:ext cx="2761488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18688" y="3749040"/>
            <a:ext cx="54864" cy="1234440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43" name="Text 41"/>
          <p:cNvSpPr/>
          <p:nvPr/>
        </p:nvSpPr>
        <p:spPr>
          <a:xfrm>
            <a:off x="3355848" y="38587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77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3355848" y="422452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Formulaire de contact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355848" y="452628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Inputs premium · Focus glow · Gradient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163056" y="3749040"/>
            <a:ext cx="2761488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63056" y="3749040"/>
            <a:ext cx="54864" cy="1234440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48" name="Text 46"/>
          <p:cNvSpPr/>
          <p:nvPr/>
        </p:nvSpPr>
        <p:spPr>
          <a:xfrm>
            <a:off x="6300216" y="38587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77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6300216" y="422452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Footer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300216" y="452628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Colonnes liens · Icônes SVG · Copyright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RESPONSIVE DESIGN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57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Mobile · Tablette · Desktop — 3 breakpoints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761488" cy="3108960"/>
          </a:xfrm>
          <a:prstGeom prst="rect">
            <a:avLst/>
          </a:prstGeom>
          <a:solidFill>
            <a:srgbClr val="111827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2761488" cy="502920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2471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 Mobile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1097280" cy="219456"/>
          </a:xfrm>
          <a:prstGeom prst="roundRect">
            <a:avLst>
              <a:gd name="adj" fmla="val 16667"/>
            </a:avLst>
          </a:prstGeom>
          <a:solidFill>
            <a:srgbClr val="10B981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6459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≤ 480px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47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Colonne unique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8716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Padding réduit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62656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98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Menu hamburger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43814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741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Checkbox hack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18688" y="1051560"/>
            <a:ext cx="2761488" cy="3108960"/>
          </a:xfrm>
          <a:prstGeom prst="rect">
            <a:avLst/>
          </a:prstGeom>
          <a:solidFill>
            <a:srgbClr val="111827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18688" y="1051560"/>
            <a:ext cx="2761488" cy="502920"/>
          </a:xfrm>
          <a:prstGeom prst="rect">
            <a:avLst/>
          </a:prstGeom>
          <a:solidFill>
            <a:srgbClr val="F59E0B">
              <a:alpha val="2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310128" y="112471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⬜  Tablette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310128" y="1645920"/>
            <a:ext cx="1097280" cy="219456"/>
          </a:xfrm>
          <a:prstGeom prst="roundRect">
            <a:avLst>
              <a:gd name="adj" fmla="val 16667"/>
            </a:avLst>
          </a:prstGeom>
          <a:solidFill>
            <a:srgbClr val="F59E0B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310128" y="16459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≤ 768px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401568" y="201168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3584448" y="1947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2 colonnes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01568" y="248716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3584448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Grid adaptatif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01568" y="2962656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3584448" y="2898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Navigation compacte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01568" y="343814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3584448" y="33741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Gaps réduits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63056" y="1051560"/>
            <a:ext cx="2761488" cy="3108960"/>
          </a:xfrm>
          <a:prstGeom prst="rect">
            <a:avLst/>
          </a:prstGeom>
          <a:solidFill>
            <a:srgbClr val="111827"/>
          </a:solidFill>
          <a:ln w="25400">
            <a:solidFill>
              <a:srgbClr val="3B77D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63056" y="1051560"/>
            <a:ext cx="2761488" cy="502920"/>
          </a:xfrm>
          <a:prstGeom prst="rect">
            <a:avLst/>
          </a:prstGeom>
          <a:solidFill>
            <a:srgbClr val="3B77DF">
              <a:alpha val="2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254496" y="112471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🖥  Desktop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54496" y="1645920"/>
            <a:ext cx="1097280" cy="219456"/>
          </a:xfrm>
          <a:prstGeom prst="roundRect">
            <a:avLst>
              <a:gd name="adj" fmla="val 16667"/>
            </a:avLst>
          </a:prstGeom>
          <a:solidFill>
            <a:srgbClr val="3B77DF">
              <a:alpha val="4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254496" y="16459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&gt; 1024px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345936" y="2011680"/>
            <a:ext cx="109728" cy="109728"/>
          </a:xfrm>
          <a:prstGeom prst="ellipse">
            <a:avLst/>
          </a:prstGeom>
          <a:solidFill>
            <a:srgbClr val="3B77DF"/>
          </a:solidFill>
          <a:ln/>
        </p:spPr>
      </p:sp>
      <p:sp>
        <p:nvSpPr>
          <p:cNvPr id="38" name="Text 36"/>
          <p:cNvSpPr/>
          <p:nvPr/>
        </p:nvSpPr>
        <p:spPr>
          <a:xfrm>
            <a:off x="6528816" y="1947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Multi-colonnes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45936" y="2487168"/>
            <a:ext cx="109728" cy="109728"/>
          </a:xfrm>
          <a:prstGeom prst="ellipse">
            <a:avLst/>
          </a:prstGeom>
          <a:solidFill>
            <a:srgbClr val="3B77DF"/>
          </a:solidFill>
          <a:ln/>
        </p:spPr>
      </p:sp>
      <p:sp>
        <p:nvSpPr>
          <p:cNvPr id="40" name="Text 38"/>
          <p:cNvSpPr/>
          <p:nvPr/>
        </p:nvSpPr>
        <p:spPr>
          <a:xfrm>
            <a:off x="6528816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Layout complet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45936" y="2962656"/>
            <a:ext cx="109728" cy="109728"/>
          </a:xfrm>
          <a:prstGeom prst="ellipse">
            <a:avLst/>
          </a:prstGeom>
          <a:solidFill>
            <a:srgbClr val="3B77DF"/>
          </a:solidFill>
          <a:ln/>
        </p:spPr>
      </p:sp>
      <p:sp>
        <p:nvSpPr>
          <p:cNvPr id="42" name="Text 40"/>
          <p:cNvSpPr/>
          <p:nvPr/>
        </p:nvSpPr>
        <p:spPr>
          <a:xfrm>
            <a:off x="6528816" y="2898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Grid 3-4 cols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45936" y="3438144"/>
            <a:ext cx="109728" cy="109728"/>
          </a:xfrm>
          <a:prstGeom prst="ellipse">
            <a:avLst/>
          </a:prstGeom>
          <a:solidFill>
            <a:srgbClr val="3B77DF"/>
          </a:solidFill>
          <a:ln/>
        </p:spPr>
      </p:sp>
      <p:sp>
        <p:nvSpPr>
          <p:cNvPr id="44" name="Text 42"/>
          <p:cNvSpPr/>
          <p:nvPr/>
        </p:nvSpPr>
        <p:spPr>
          <a:xfrm>
            <a:off x="6528816" y="33741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Toutes animations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4251960"/>
            <a:ext cx="8595360" cy="685800"/>
          </a:xfrm>
          <a:prstGeom prst="rect">
            <a:avLst/>
          </a:prstGeom>
          <a:solidFill>
            <a:srgbClr val="070B14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57200" y="42793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Tablette ≤ 768px */  @media (max-width: 768px) { :root { --container-p: 20px; } }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Mobile ≤ 480px */   @media (max-width: 480px) { .services-grid { grid-template-columns: 1fr; } }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CHOIX TECHNIQUES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57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Justification de chaque décision d'architecture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206240" cy="18745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4206240" cy="45720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15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</a:rPr>
              <a:t>Zéro JavaScript · Zéro Framework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554480"/>
            <a:ext cx="64008" cy="64008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904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Contrainte cahier des charges : HTML5 + CSS3 uniquement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965960"/>
            <a:ext cx="64008" cy="64008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01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Checkbox Hack pour hamburger et dropdown langue FR/EN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377440"/>
            <a:ext cx="64008" cy="64008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313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Performance maximale — aucune dépendance externe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1005840"/>
            <a:ext cx="4206240" cy="18745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005840"/>
            <a:ext cx="4206240" cy="45720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115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</a:rPr>
              <a:t>SVG Inline — Iconographie propre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1554480"/>
            <a:ext cx="64008" cy="64008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14904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Icônes intégrées directement dans le HTML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1965960"/>
            <a:ext cx="64008" cy="64008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1901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Contrôle total des couleurs via currentColor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2377440"/>
            <a:ext cx="64008" cy="64008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2313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Aucun CDN · Courbes Bézier décoratives dans le hero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017520"/>
            <a:ext cx="4206240" cy="18745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017520"/>
            <a:ext cx="4206240" cy="45720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1272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</a:rPr>
              <a:t>Layout : Flexbox principal + Grid complémentaire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1480" y="3566160"/>
            <a:ext cx="64008" cy="64008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5021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Flexbox : navigation · hero · about · footer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3977640"/>
            <a:ext cx="64008" cy="64008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9136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Grid : services (3 cols) · team (2 cols) · membres (4 cols)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4389120"/>
            <a:ext cx="64008" cy="64008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3251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Stats responsive : 2×2 → 1 colonne sur mobile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3017520"/>
            <a:ext cx="4206240" cy="18745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3017520"/>
            <a:ext cx="4206240" cy="45720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31272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</a:rPr>
              <a:t>Bilingue FR/EN — Deux fichiers HTML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46320" y="3566160"/>
            <a:ext cx="64008" cy="64008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35021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Sans JS : traduction dynamique impossible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46320" y="3977640"/>
            <a:ext cx="64008" cy="64008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39" name="Text 37"/>
          <p:cNvSpPr/>
          <p:nvPr/>
        </p:nvSpPr>
        <p:spPr>
          <a:xfrm>
            <a:off x="4983480" y="39136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index.html (français) + index-en.html (anglais)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46320" y="4389120"/>
            <a:ext cx="64008" cy="64008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41" name="Text 39"/>
          <p:cNvSpPr/>
          <p:nvPr/>
        </p:nvSpPr>
        <p:spPr>
          <a:xfrm>
            <a:off x="4983480" y="43251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Globe SVG → liens de redirection · Dropdown CSS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&amp; VERSIONING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0" y="457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Commits quotidiens · Branche dédiée · README complet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github.com/Euloge-szn/BLOC_02  ·  branche : projet-integrateur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8229600" cy="0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35608"/>
            <a:ext cx="338328" cy="338328"/>
          </a:xfrm>
          <a:prstGeom prst="ellipse">
            <a:avLst/>
          </a:prstGeom>
          <a:solidFill>
            <a:srgbClr val="3B77D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3560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J1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Structure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57400" y="1435608"/>
            <a:ext cx="338328" cy="338328"/>
          </a:xfrm>
          <a:prstGeom prst="ellipse">
            <a:avLst/>
          </a:prstGeom>
          <a:solidFill>
            <a:srgbClr val="3B77D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143560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J2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874520" y="1828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Hero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74720" y="1435608"/>
            <a:ext cx="338328" cy="338328"/>
          </a:xfrm>
          <a:prstGeom prst="ellipse">
            <a:avLst/>
          </a:prstGeom>
          <a:solidFill>
            <a:srgbClr val="3B77D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43560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J4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291840" y="1828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92040" y="1435608"/>
            <a:ext cx="338328" cy="338328"/>
          </a:xfrm>
          <a:prstGeom prst="ellipse">
            <a:avLst/>
          </a:prstGeom>
          <a:solidFill>
            <a:srgbClr val="3B77D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43560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J6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709160" y="1828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Contact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309360" y="1435608"/>
            <a:ext cx="338328" cy="338328"/>
          </a:xfrm>
          <a:prstGeom prst="ellipse">
            <a:avLst/>
          </a:prstGeom>
          <a:solidFill>
            <a:srgbClr val="3B77D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43560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J8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126480" y="1828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Responsive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726680" y="1435608"/>
            <a:ext cx="338328" cy="3383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26680" y="143560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J10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543800" y="1828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Final 🏁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2331720"/>
            <a:ext cx="4206240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331720"/>
            <a:ext cx="45720" cy="548640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236829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Branche dédiée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26060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projet-integrateur — branche unique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2331720"/>
            <a:ext cx="4206240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2331720"/>
            <a:ext cx="45720" cy="548640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36829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Fréquence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26060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Minimum 1 commit / jour / membre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2990088"/>
            <a:ext cx="4206240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2990088"/>
            <a:ext cx="45720" cy="548640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30266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Messages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326440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Explicites · Pas de 'wip', 'test', 'save'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09160" y="2990088"/>
            <a:ext cx="4206240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2990088"/>
            <a:ext cx="45720" cy="548640"/>
          </a:xfrm>
          <a:prstGeom prst="rect">
            <a:avLst/>
          </a:prstGeom>
          <a:solidFill>
            <a:srgbClr val="3B77DF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30266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Dépôt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46320" y="326440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Public · Historique complet · README d'architecture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74320" y="3703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</a:rPr>
              <a:t>BONUS COMPÉTITION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3977640"/>
            <a:ext cx="8595360" cy="25603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4" name="Text 42"/>
          <p:cNvSpPr/>
          <p:nvPr/>
        </p:nvSpPr>
        <p:spPr>
          <a:xfrm>
            <a:off x="411480" y="39776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Premier groupe à ouvrir la branche avec structure complète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909560" y="39776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+3 pts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4251960"/>
            <a:ext cx="8595360" cy="256032"/>
          </a:xfrm>
          <a:prstGeom prst="rect">
            <a:avLst/>
          </a:prstGeom>
          <a:solidFill>
            <a:srgbClr val="1A2235"/>
          </a:solidFill>
          <a:ln/>
        </p:spPr>
      </p:sp>
      <p:sp>
        <p:nvSpPr>
          <p:cNvPr id="47" name="Text 45"/>
          <p:cNvSpPr/>
          <p:nvPr/>
        </p:nvSpPr>
        <p:spPr>
          <a:xfrm>
            <a:off x="411480" y="42519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Premier README avec document d'architecture rédigé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909560" y="4251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+3 pts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74320" y="4526280"/>
            <a:ext cx="8595360" cy="25603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50" name="Text 48"/>
          <p:cNvSpPr/>
          <p:nvPr/>
        </p:nvSpPr>
        <p:spPr>
          <a:xfrm>
            <a:off x="411480" y="45262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Site entièrement responsive validé avant J7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909560" y="45262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+4 pts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solidFill>
            <a:srgbClr val="1A2235"/>
          </a:solidFill>
          <a:ln/>
        </p:spPr>
      </p:sp>
      <p:sp>
        <p:nvSpPr>
          <p:cNvPr id="53" name="Text 51"/>
          <p:cNvSpPr/>
          <p:nvPr/>
        </p:nvSpPr>
        <p:spPr>
          <a:xfrm>
            <a:off x="411480" y="480060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Commit le plus explicite de la semaine (jury)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909560" y="48006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+2 pts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3B77DF">
              <a:alpha val="12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1371600"/>
            <a:ext cx="6400800" cy="6400800"/>
          </a:xfrm>
          <a:prstGeom prst="ellipse">
            <a:avLst/>
          </a:prstGeom>
          <a:solidFill>
            <a:srgbClr val="1D4ED8">
              <a:alpha val="1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94760" y="548640"/>
            <a:ext cx="1554480" cy="1554480"/>
          </a:xfrm>
          <a:prstGeom prst="rect">
            <a:avLst/>
          </a:prstGeom>
          <a:solidFill>
            <a:srgbClr val="3B77DF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794760" y="5486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Merci de votre attention.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Nous sommes prêts à défendre chaque ligne de code.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520440"/>
            <a:ext cx="169164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3B77D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53872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14400" y="41422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sections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34640" y="3520440"/>
            <a:ext cx="169164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3B77D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34640" y="353872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834640" y="41422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fichiers CSS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3520440"/>
            <a:ext cx="169164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3B77D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353872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754880" y="41422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membres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5120" y="3520440"/>
            <a:ext cx="169164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3B77D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353872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675120" y="41422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jours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7274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77DF"/>
                </a:solidFill>
              </a:rPr>
              <a:t>Des questions ? Posez-les, nous avons les réponses.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Académie de Programmation · IFRI L1 · Bloc 2 · 2025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NexaLab — Bloc 2 Projet Intégrateur</dc:title>
  <dc:subject>PptxGenJS Presentation</dc:subject>
  <dc:creator>PptxGenJS</dc:creator>
  <cp:lastModifiedBy>PptxGenJS</cp:lastModifiedBy>
  <cp:revision>1</cp:revision>
  <dcterms:created xsi:type="dcterms:W3CDTF">2026-05-16T17:31:58Z</dcterms:created>
  <dcterms:modified xsi:type="dcterms:W3CDTF">2026-05-16T17:31:58Z</dcterms:modified>
</cp:coreProperties>
</file>